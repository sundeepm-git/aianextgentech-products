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4"/>
  </p:sldMasterIdLst>
  <p:sldIdLst>
    <p:sldId id="256" r:id="rId5"/>
    <p:sldId id="264" r:id="rId6"/>
    <p:sldId id="257" r:id="rId7"/>
    <p:sldId id="267" r:id="rId8"/>
    <p:sldId id="265" r:id="rId9"/>
    <p:sldId id="266" r:id="rId10"/>
    <p:sldId id="259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76EBA5A-27EE-4647-8006-65E1868C8754}">
          <p14:sldIdLst>
            <p14:sldId id="256"/>
            <p14:sldId id="264"/>
            <p14:sldId id="257"/>
            <p14:sldId id="267"/>
            <p14:sldId id="265"/>
            <p14:sldId id="266"/>
            <p14:sldId id="259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8AE414-7543-4752-B1E4-193A9691553B}" v="36" dt="2026-04-21T21:28:32.097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197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wari, Sundeep Kumar" userId="9a962650-e646-43c7-a3a1-e4d97fd204aa" providerId="ADAL" clId="{843F4A8C-F017-416A-8B50-DC29731B04E3}"/>
    <pc:docChg chg="undo custSel modSld sldOrd">
      <pc:chgData name="Maheshwari, Sundeep Kumar" userId="9a962650-e646-43c7-a3a1-e4d97fd204aa" providerId="ADAL" clId="{843F4A8C-F017-416A-8B50-DC29731B04E3}" dt="2026-04-21T21:28:32.097" v="41" actId="6549"/>
      <pc:docMkLst>
        <pc:docMk/>
      </pc:docMkLst>
      <pc:sldChg chg="modSp modAnim">
        <pc:chgData name="Maheshwari, Sundeep Kumar" userId="9a962650-e646-43c7-a3a1-e4d97fd204aa" providerId="ADAL" clId="{843F4A8C-F017-416A-8B50-DC29731B04E3}" dt="2026-04-21T21:28:32.097" v="41" actId="6549"/>
        <pc:sldMkLst>
          <pc:docMk/>
          <pc:sldMk cId="0" sldId="256"/>
        </pc:sldMkLst>
        <pc:spChg chg="mod">
          <ac:chgData name="Maheshwari, Sundeep Kumar" userId="9a962650-e646-43c7-a3a1-e4d97fd204aa" providerId="ADAL" clId="{843F4A8C-F017-416A-8B50-DC29731B04E3}" dt="2026-04-21T21:28:15.319" v="33" actId="20577"/>
          <ac:spMkLst>
            <pc:docMk/>
            <pc:sldMk cId="0" sldId="256"/>
            <ac:spMk id="2" creationId="{00000000-0000-0000-0000-000000000000}"/>
          </ac:spMkLst>
        </pc:spChg>
      </pc:sldChg>
      <pc:sldChg chg="ord">
        <pc:chgData name="Maheshwari, Sundeep Kumar" userId="9a962650-e646-43c7-a3a1-e4d97fd204aa" providerId="ADAL" clId="{843F4A8C-F017-416A-8B50-DC29731B04E3}" dt="2026-04-09T15:44:21.495" v="6"/>
        <pc:sldMkLst>
          <pc:docMk/>
          <pc:sldMk cId="1348972493" sldId="264"/>
        </pc:sldMkLst>
      </pc:sldChg>
    </pc:docChg>
  </pc:docChgLst>
  <pc:docChgLst>
    <pc:chgData name="Maheshwari, Sundeep Kumar" userId="S::sundeep.maheshwari@capgemini.com::9a962650-e646-43c7-a3a1-e4d97fd204aa" providerId="AD" clId="Web-{FC9235A8-B6FE-6C7F-9CEC-BE554B5C4D96}"/>
    <pc:docChg chg="modSld">
      <pc:chgData name="Maheshwari, Sundeep Kumar" userId="S::sundeep.maheshwari@capgemini.com::9a962650-e646-43c7-a3a1-e4d97fd204aa" providerId="AD" clId="Web-{FC9235A8-B6FE-6C7F-9CEC-BE554B5C4D96}" dt="2026-04-02T19:22:11.802" v="8"/>
      <pc:docMkLst>
        <pc:docMk/>
      </pc:docMkLst>
      <pc:sldChg chg="addSp delSp modSp mod setClrOvrMap">
        <pc:chgData name="Maheshwari, Sundeep Kumar" userId="S::sundeep.maheshwari@capgemini.com::9a962650-e646-43c7-a3a1-e4d97fd204aa" providerId="AD" clId="Web-{FC9235A8-B6FE-6C7F-9CEC-BE554B5C4D96}" dt="2026-04-02T19:22:11.802" v="8"/>
        <pc:sldMkLst>
          <pc:docMk/>
          <pc:sldMk cId="0" sldId="259"/>
        </pc:sldMkLst>
        <pc:spChg chg="mod">
          <ac:chgData name="Maheshwari, Sundeep Kumar" userId="S::sundeep.maheshwari@capgemini.com::9a962650-e646-43c7-a3a1-e4d97fd204aa" providerId="AD" clId="Web-{FC9235A8-B6FE-6C7F-9CEC-BE554B5C4D96}" dt="2026-04-02T19:22:11.802" v="7"/>
          <ac:spMkLst>
            <pc:docMk/>
            <pc:sldMk cId="0" sldId="259"/>
            <ac:spMk id="2" creationId="{00000000-0000-0000-0000-000000000000}"/>
          </ac:spMkLst>
        </pc:spChg>
        <pc:spChg chg="add">
          <ac:chgData name="Maheshwari, Sundeep Kumar" userId="S::sundeep.maheshwari@capgemini.com::9a962650-e646-43c7-a3a1-e4d97fd204aa" providerId="AD" clId="Web-{FC9235A8-B6FE-6C7F-9CEC-BE554B5C4D96}" dt="2026-04-02T19:22:11.802" v="8"/>
          <ac:spMkLst>
            <pc:docMk/>
            <pc:sldMk cId="0" sldId="259"/>
            <ac:spMk id="65" creationId="{A4AC5506-6312-4701-8D3C-40187889A947}"/>
          </ac:spMkLst>
        </pc:spChg>
        <pc:picChg chg="add mod">
          <ac:chgData name="Maheshwari, Sundeep Kumar" userId="S::sundeep.maheshwari@capgemini.com::9a962650-e646-43c7-a3a1-e4d97fd204aa" providerId="AD" clId="Web-{FC9235A8-B6FE-6C7F-9CEC-BE554B5C4D96}" dt="2026-04-02T19:22:11.802" v="8"/>
          <ac:picMkLst>
            <pc:docMk/>
            <pc:sldMk cId="0" sldId="259"/>
            <ac:picMk id="3" creationId="{B14CF04D-B477-E1AA-7999-AF9110D5D397}"/>
          </ac:picMkLst>
        </pc:picChg>
      </pc:sldChg>
    </pc:docChg>
  </pc:docChgLst>
  <pc:docChgLst>
    <pc:chgData name="Maheshwari, Sundeep Kumar" userId="S::sundeep.maheshwari@capgemini.com::9a962650-e646-43c7-a3a1-e4d97fd204aa" providerId="AD" clId="Web-{05DC2737-CDC7-808F-93A5-4844AE4C61EB}"/>
    <pc:docChg chg="addSld modSld sldOrd modSection">
      <pc:chgData name="Maheshwari, Sundeep Kumar" userId="S::sundeep.maheshwari@capgemini.com::9a962650-e646-43c7-a3a1-e4d97fd204aa" providerId="AD" clId="Web-{05DC2737-CDC7-808F-93A5-4844AE4C61EB}" dt="2026-04-02T21:05:58.646" v="36" actId="14100"/>
      <pc:docMkLst>
        <pc:docMk/>
      </pc:docMkLst>
      <pc:sldChg chg="addSp delSp modSp add ord replId">
        <pc:chgData name="Maheshwari, Sundeep Kumar" userId="S::sundeep.maheshwari@capgemini.com::9a962650-e646-43c7-a3a1-e4d97fd204aa" providerId="AD" clId="Web-{05DC2737-CDC7-808F-93A5-4844AE4C61EB}" dt="2026-04-02T21:05:58.646" v="36" actId="14100"/>
        <pc:sldMkLst>
          <pc:docMk/>
          <pc:sldMk cId="2099176095" sldId="268"/>
        </pc:sldMkLst>
        <pc:spChg chg="mod">
          <ac:chgData name="Maheshwari, Sundeep Kumar" userId="S::sundeep.maheshwari@capgemini.com::9a962650-e646-43c7-a3a1-e4d97fd204aa" providerId="AD" clId="Web-{05DC2737-CDC7-808F-93A5-4844AE4C61EB}" dt="2026-04-02T21:02:55.380" v="14" actId="20577"/>
          <ac:spMkLst>
            <pc:docMk/>
            <pc:sldMk cId="2099176095" sldId="268"/>
            <ac:spMk id="2" creationId="{12112AD5-9189-D782-0E75-4F261EA17F19}"/>
          </ac:spMkLst>
        </pc:spChg>
        <pc:picChg chg="add mod">
          <ac:chgData name="Maheshwari, Sundeep Kumar" userId="S::sundeep.maheshwari@capgemini.com::9a962650-e646-43c7-a3a1-e4d97fd204aa" providerId="AD" clId="Web-{05DC2737-CDC7-808F-93A5-4844AE4C61EB}" dt="2026-04-02T21:05:17.662" v="32" actId="14100"/>
          <ac:picMkLst>
            <pc:docMk/>
            <pc:sldMk cId="2099176095" sldId="268"/>
            <ac:picMk id="4" creationId="{3C358C18-32E6-5888-0EB0-4D71BE4F97E4}"/>
          </ac:picMkLst>
        </pc:picChg>
        <pc:picChg chg="add mod">
          <ac:chgData name="Maheshwari, Sundeep Kumar" userId="S::sundeep.maheshwari@capgemini.com::9a962650-e646-43c7-a3a1-e4d97fd204aa" providerId="AD" clId="Web-{05DC2737-CDC7-808F-93A5-4844AE4C61EB}" dt="2026-04-02T21:05:58.646" v="36" actId="14100"/>
          <ac:picMkLst>
            <pc:docMk/>
            <pc:sldMk cId="2099176095" sldId="268"/>
            <ac:picMk id="5" creationId="{1A6E2D1A-3371-A425-2C89-4C61306AFC1F}"/>
          </ac:picMkLst>
        </pc:picChg>
      </pc:sldChg>
    </pc:docChg>
  </pc:docChgLst>
  <pc:docChgLst>
    <pc:chgData name="Maheshwari, Sundeep Kumar" userId="S::sundeep.maheshwari@capgemini.com::9a962650-e646-43c7-a3a1-e4d97fd204aa" providerId="AD" clId="Web-{9997F13E-4C39-83C7-4FEE-E19A2360C120}"/>
    <pc:docChg chg="modSld">
      <pc:chgData name="Maheshwari, Sundeep Kumar" userId="S::sundeep.maheshwari@capgemini.com::9a962650-e646-43c7-a3a1-e4d97fd204aa" providerId="AD" clId="Web-{9997F13E-4C39-83C7-4FEE-E19A2360C120}" dt="2026-03-23T13:14:11.568" v="5"/>
      <pc:docMkLst>
        <pc:docMk/>
      </pc:docMkLst>
      <pc:sldChg chg="addSp delSp modSp">
        <pc:chgData name="Maheshwari, Sundeep Kumar" userId="S::sundeep.maheshwari@capgemini.com::9a962650-e646-43c7-a3a1-e4d97fd204aa" providerId="AD" clId="Web-{9997F13E-4C39-83C7-4FEE-E19A2360C120}" dt="2026-03-23T13:14:11.568" v="5"/>
        <pc:sldMkLst>
          <pc:docMk/>
          <pc:sldMk cId="0" sldId="259"/>
        </pc:sldMkLst>
        <pc:spChg chg="mod ord">
          <ac:chgData name="Maheshwari, Sundeep Kumar" userId="S::sundeep.maheshwari@capgemini.com::9a962650-e646-43c7-a3a1-e4d97fd204aa" providerId="AD" clId="Web-{9997F13E-4C39-83C7-4FEE-E19A2360C120}" dt="2026-03-23T13:14:11.568" v="5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BF39B-04F6-D9AA-AC74-5A6181C48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083EE-0BB1-CD40-977A-7E9D4640D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3427-6C4E-1799-1E14-71A6C092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62F35-A7D8-A67E-7A71-D2E312E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D6483-1848-BE39-3767-57C81C453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896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8F6D2-EDBC-8009-5182-6377357F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8C874-4751-7D47-761B-E6A6E8B9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C9A91E-E462-BA83-68FE-326675B66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66519-F167-3CA2-6E10-70B1F52B3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1114C-715D-440F-4A4A-6DB0FE8F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1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AC89-E4FF-59F2-DF2F-66575DCE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E971B-B719-495C-DEE4-A028AF7AF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4039A-7BDA-510B-1252-D7B01224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63D53-A926-81BD-530A-8DBC5D05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77327-CDE7-5FE4-F85E-8DE360D5D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1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923BA-0D47-0F10-E49D-00CBE1F8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6529-E64B-DAC1-0830-49A754C0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BEA80-A7C5-2F5E-8E52-0BCB0A09F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E4B6D-97F3-9CAD-1E1C-DA80966DA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C25B4-1C8C-2D97-FF8E-9E15E6AF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E3F18-113D-3A87-A860-3E27EE5A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95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E447-2021-2D93-6A41-50A67B4A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7490E-CD08-9752-A0A9-F64ADBC05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A5F5E-A1CC-70D3-E64C-8B6A2B9F4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8A63A-79A3-1526-455F-4068C77E4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55AD07-2EA6-7A09-FF1F-7C8912B78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4B83D-C390-7EDE-FE54-988CD5B8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C18F8-D65E-4981-E1F5-67AE01A3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F0291-8C21-682E-036C-6F0EE294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7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888A-17FA-988A-09F3-EB81F6D9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F87BE-9179-1840-5EC4-9F61ABB0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FFD78-8C69-E40E-3C34-F559A596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CF013-8B0D-6BE1-5030-1C6F4CACC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73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E8289D-D188-83DB-29F8-1CC24E5DA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71885-F77E-3860-88E4-2B303B15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57BEC-B28C-86EA-18C3-C28C65B3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8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2DA2-FA4D-B480-4942-77662C32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F218-FBC3-8521-97BD-240DCB81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E96CD-7CFC-0AD8-7E2D-88245E607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BD9D7-D162-AEF8-0DD7-C4779FD5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6031B-CBFA-CEFA-4F37-9032AD69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1AC2B-F1C9-17F9-8ECE-5F655BF4C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90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06B5-4459-AD96-C8ED-560688B46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BA58C-7E52-8185-A649-6F91D19917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EF533-2851-25FD-3360-30B63277A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470589-F048-B4BA-EE59-684465470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232C7-D820-CF0A-EFCF-665125D6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CD5D8-B2C5-F6E3-F953-BF0033048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53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737F-0513-B169-33D4-DE78B406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CCE222-89A4-E1D2-1115-B75CBAB0E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A6436-23F7-C1E8-5324-F76966B9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51967-EA54-E9F4-B51A-66E8B9AC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D3D5F-536D-77A9-14B9-6F856E37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31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22C143-9E34-AD5C-F992-F4AB13A87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467AF-1FC3-CB64-31B7-903FA7A04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12F53-CCE2-7E78-4441-991B3C52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B3603-2741-FEE8-3D41-84C6B6FD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4DF39-73BF-4BC5-1B4E-316CCFDE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8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E23BFC-FF8A-C12E-AF89-8AE117B1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F09D2-EA89-358F-EB33-216ED547A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D8BC-8237-F7F9-5213-F4D3BFA39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3E143-5793-83EE-A85E-6917A7FE5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2FC8-C4ED-046C-4D08-DF1CFBE27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8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348" y="551962"/>
            <a:ext cx="8249304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93338"/>
            <a:ext cx="6858000" cy="3274592"/>
          </a:xfrm>
        </p:spPr>
        <p:txBody>
          <a:bodyPr anchor="ctr">
            <a:normAutofit/>
          </a:bodyPr>
          <a:lstStyle/>
          <a:p>
            <a:r>
              <a:rPr lang="en-US" sz="6300" dirty="0"/>
              <a:t>Agentic Azure-to-Terraform Migration (A2T)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514052"/>
            <a:ext cx="6858000" cy="651910"/>
          </a:xfrm>
        </p:spPr>
        <p:txBody>
          <a:bodyPr anchor="ctr">
            <a:normAutofit/>
          </a:bodyPr>
          <a:lstStyle/>
          <a:p>
            <a:r>
              <a:rPr lang="en-US"/>
              <a:t>Agentic AI–Driven Infrastructure Modernization</a:t>
            </a:r>
          </a:p>
          <a:p>
            <a:endParaRPr lang="en-US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47348" y="6354708"/>
            <a:ext cx="8250174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27509B-C599-B3B2-3105-0F54F0AD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B6651-F3E7-EF02-F7E9-42C09F7C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 (A2T)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E9C911-B1FB-6375-A698-04BA69B84158}"/>
              </a:ext>
            </a:extLst>
          </p:cNvPr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Enterprise Azure‑to‑Terraform Migration Challenges</a:t>
            </a:r>
          </a:p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/>
              <a:t>The client operates 200+ Azure subscriptions, spanning legacy and newly provisioned environments</a:t>
            </a:r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/>
              <a:t>Strategic goal is to govern all application (managed) infrastructure via Terraform Cloud</a:t>
            </a:r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/>
              <a:t>Migration requires repeated assessment, export, and refactoring across hundreds of subscriptions</a:t>
            </a:r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 manual approach is time‑consuming, error‑prone, and difficult to scale</a:t>
            </a:r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BF3102-919D-A450-90FA-622C504C5D4B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972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Use Case (A2T)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3017522"/>
            <a:ext cx="7455989" cy="3124658"/>
          </a:xfrm>
        </p:spPr>
        <p:txBody>
          <a:bodyPr anchor="ctr">
            <a:normAutofit/>
          </a:bodyPr>
          <a:lstStyle/>
          <a:p>
            <a:r>
              <a:rPr dirty="0"/>
              <a:t>Multi-agent, agentic AI pipeline for Azure-to-Terraform</a:t>
            </a:r>
            <a:r>
              <a:rPr lang="en-US" dirty="0"/>
              <a:t> Cloud</a:t>
            </a:r>
            <a:r>
              <a:rPr dirty="0"/>
              <a:t> migration</a:t>
            </a:r>
          </a:p>
          <a:p>
            <a:r>
              <a:rPr dirty="0"/>
              <a:t>Automated assessment, export, and refactoring</a:t>
            </a:r>
            <a:r>
              <a:rPr lang="en-US" dirty="0"/>
              <a:t> Legacy and Modern Azure Environment </a:t>
            </a:r>
            <a:endParaRPr dirty="0"/>
          </a:p>
          <a:p>
            <a:r>
              <a:rPr dirty="0"/>
              <a:t>Built on Azure AI Foundry Agents and Workflows</a:t>
            </a:r>
          </a:p>
          <a:p>
            <a:r>
              <a:rPr dirty="0"/>
              <a:t>Powered by MCP tools and containerized runtime</a:t>
            </a:r>
            <a:endParaRPr lang="en-US" dirty="0"/>
          </a:p>
          <a:p>
            <a:r>
              <a:rPr lang="en-US" dirty="0"/>
              <a:t>This solution can be used for other public cloud providers</a:t>
            </a:r>
            <a:endParaRPr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255EC-626E-78CB-8D83-D26096E00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C427D-9993-7C9A-396D-D532B3AA4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 fontAlgn="t"/>
            <a:r>
              <a:rPr lang="en-US" sz="42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Change Is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046C77-00DA-EABF-DB6C-A3BA39A36D19}"/>
              </a:ext>
            </a:extLst>
          </p:cNvPr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628650" lvl="1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 b="1"/>
              <a:t>Manual migration creates: 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High developer work due to repetitive tasks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Inconsistent Terraform code and governance drift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Increased risk, cost, and slower delivery timelines</a:t>
            </a:r>
          </a:p>
          <a:p>
            <a:pPr marL="628650" lvl="1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The scale of the environment demands a scalable, automated approach</a:t>
            </a:r>
          </a:p>
          <a:p>
            <a:pPr marL="628650" lvl="1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A multi‑agent, skill‑based digital workforce is required to: 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Reduce manual effort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Improve consistency and quality</a:t>
            </a:r>
          </a:p>
          <a:p>
            <a:pPr marL="1085850" lvl="3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/>
              <a:t>Accelerate Azure‑to‑Terraform Cloud adoption</a:t>
            </a:r>
          </a:p>
          <a:p>
            <a:pPr marL="171450"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60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2AE210-4F30-9A24-1350-E3171D5F6EBF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373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C4CB0-E872-85C5-3DCA-33D3F0C77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FEE57-6681-6FC3-C804-926F6714B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Outcome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91FD00-DA1A-5DB5-6B6F-EF8E5CC0F524}"/>
              </a:ext>
            </a:extLst>
          </p:cNvPr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User Impact: </a:t>
            </a:r>
          </a:p>
          <a:p>
            <a:pPr fontAlgn="t">
              <a:lnSpc>
                <a:spcPct val="90000"/>
              </a:lnSpc>
              <a:spcBef>
                <a:spcPts val="750"/>
              </a:spcBef>
            </a:pPr>
            <a:r>
              <a:rPr lang="en-US" sz="1600" dirty="0"/>
              <a:t>       Platform teams and developers save significant time by automating migration across 200+ Azure subscriptions</a:t>
            </a:r>
          </a:p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Innovation: </a:t>
            </a:r>
          </a:p>
          <a:p>
            <a:pPr fontAlgn="t">
              <a:lnSpc>
                <a:spcPct val="90000"/>
              </a:lnSpc>
              <a:spcBef>
                <a:spcPts val="750"/>
              </a:spcBef>
            </a:pPr>
            <a:r>
              <a:rPr lang="en-US" sz="1600" dirty="0"/>
              <a:t>         Multi-agent digital workforce using Azure AI Foundry and MCP tools</a:t>
            </a:r>
          </a:p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AI Fit: </a:t>
            </a:r>
          </a:p>
          <a:p>
            <a:pPr fontAlgn="t">
              <a:lnSpc>
                <a:spcPct val="90000"/>
              </a:lnSpc>
              <a:spcBef>
                <a:spcPts val="750"/>
              </a:spcBef>
            </a:pPr>
            <a:r>
              <a:rPr lang="en-US" sz="1600" dirty="0"/>
              <a:t>        Agentic AI is ideal for NLP-driven orchestration and code transformation</a:t>
            </a:r>
          </a:p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User Experience: </a:t>
            </a:r>
          </a:p>
          <a:p>
            <a:pPr fontAlgn="t">
              <a:lnSpc>
                <a:spcPct val="90000"/>
              </a:lnSpc>
              <a:spcBef>
                <a:spcPts val="750"/>
              </a:spcBef>
            </a:pPr>
            <a:r>
              <a:rPr lang="en-US" sz="1600" dirty="0"/>
              <a:t>       Simple, prompt-driven workflow with minimal manual intervention</a:t>
            </a:r>
          </a:p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2349B65-44A5-86C2-E6B2-E3AD7C1964F2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607751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128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876FD-68D4-F07B-E3A8-5F4498705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C14AF-CCFC-A3FE-7637-B6825AAEE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Outcome &amp; Evaluation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95E94-83F7-7FDB-CC3E-2B330C4A194A}"/>
              </a:ext>
            </a:extLst>
          </p:cNvPr>
          <p:cNvSpPr txBox="1"/>
          <p:nvPr/>
        </p:nvSpPr>
        <p:spPr>
          <a:xfrm>
            <a:off x="783771" y="3017522"/>
            <a:ext cx="745598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fontAlgn="t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1900" b="1" dirty="0"/>
              <a:t>Responsible Design: </a:t>
            </a:r>
          </a:p>
          <a:p>
            <a:pPr marL="228600" lvl="1" fontAlgn="t">
              <a:lnSpc>
                <a:spcPct val="90000"/>
              </a:lnSpc>
              <a:spcBef>
                <a:spcPts val="750"/>
              </a:spcBef>
            </a:pPr>
            <a:r>
              <a:rPr lang="en-US" sz="1900" dirty="0"/>
              <a:t>RBAC, secrets management, auditability, and deterministic tools enforced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Reusability (MCP): </a:t>
            </a:r>
          </a:p>
          <a:p>
            <a:pPr marL="228600" lvl="1">
              <a:lnSpc>
                <a:spcPct val="90000"/>
              </a:lnSpc>
            </a:pPr>
            <a:r>
              <a:rPr lang="en-US" sz="1900" dirty="0"/>
              <a:t>Assessment, export, and refactor tools reusable across cloud automation use cases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b="1" dirty="0"/>
              <a:t>KPI Impact: </a:t>
            </a:r>
          </a:p>
          <a:p>
            <a:pPr marL="228600" lvl="1">
              <a:lnSpc>
                <a:spcPct val="90000"/>
              </a:lnSpc>
            </a:pPr>
            <a:r>
              <a:rPr lang="en-US" sz="1900" dirty="0"/>
              <a:t>50–70% faster migration cycles with improved IaC consistency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11BB6C-EF35-6E9D-D9BA-764D691B7C65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914952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10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399" y="643467"/>
            <a:ext cx="8408193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2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High Level Architecture</a:t>
            </a:r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B14CF04D-B477-E1AA-7999-AF9110D5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91" y="1675227"/>
            <a:ext cx="7087417" cy="43941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863E9-FD95-0962-5EAF-2F9FF41F9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C0073EF-56BE-DCF1-45BE-61822B0A9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73FEA74-ACDA-661E-372A-E4F0631C2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D698DB4B-5BCD-AB54-F851-2ADEFD597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0FF37E-9F28-03D9-E92C-63DD12F4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66D6278-008A-7922-5E9B-0CE4E8A4A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3661DA58-F8EA-3C70-3C6C-F220997C6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12AD5-9189-D782-0E75-4F261EA17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723" y="809898"/>
            <a:ext cx="7457037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4200" dirty="0">
                <a:latin typeface="Aptos Display"/>
                <a:cs typeface="Segoe UI"/>
              </a:rPr>
              <a:t>Testim</a:t>
            </a:r>
            <a:r>
              <a:rPr lang="en-US" sz="4200">
                <a:latin typeface="Aptos Display"/>
                <a:cs typeface="Segoe UI"/>
              </a:rPr>
              <a:t>onial</a:t>
            </a:r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81AD181-1887-F7FD-1C41-3A8043C1D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1801D7A-C776-0CDF-19B3-D6C511E657C9}"/>
              </a:ext>
            </a:extLst>
          </p:cNvPr>
          <p:cNvSpPr txBox="1">
            <a:spLocks/>
          </p:cNvSpPr>
          <p:nvPr/>
        </p:nvSpPr>
        <p:spPr>
          <a:xfrm>
            <a:off x="606478" y="2265710"/>
            <a:ext cx="7914952" cy="32544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3C358C18-32E6-5888-0EB0-4D71BE4F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42" y="2638977"/>
            <a:ext cx="8577944" cy="2156989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A6E2D1A-3371-A425-2C89-4C61306AF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3" y="4974771"/>
            <a:ext cx="8392886" cy="81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76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C8F3078-C697-4B7E-9FF9-CB5BF9CCF2C1}">
  <ds:schemaRefs>
    <ds:schemaRef ds:uri="http://schemas.microsoft.com/office/2006/metadata/properties"/>
    <ds:schemaRef ds:uri="http://schemas.microsoft.com/office/infopath/2007/PartnerControls"/>
    <ds:schemaRef ds:uri="71ec4482-8a5f-419e-a3fb-f1ff39837bb1"/>
    <ds:schemaRef ds:uri="289d593b-f9da-44ad-aeed-35e8c5022e75"/>
  </ds:schemaRefs>
</ds:datastoreItem>
</file>

<file path=customXml/itemProps2.xml><?xml version="1.0" encoding="utf-8"?>
<ds:datastoreItem xmlns:ds="http://schemas.openxmlformats.org/officeDocument/2006/customXml" ds:itemID="{D5BA1E45-31CE-4C34-9B78-61E98C36B9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8724E7-D70B-448E-A300-6DF077F4DC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ec4482-8a5f-419e-a3fb-f1ff39837bb1"/>
    <ds:schemaRef ds:uri="289d593b-f9da-44ad-aeed-35e8c5022e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314</Words>
  <Application>Microsoft Office PowerPoint</Application>
  <PresentationFormat>On-screen Show (4:3)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Agentic Azure-to-Terraform Migration (A2T)</vt:lpstr>
      <vt:lpstr>Problem Statement (A2T)</vt:lpstr>
      <vt:lpstr>Use Case (A2T)</vt:lpstr>
      <vt:lpstr>Why Change Is Needed</vt:lpstr>
      <vt:lpstr>Outcome &amp; Evaluation</vt:lpstr>
      <vt:lpstr>Outcome &amp; Evaluation</vt:lpstr>
      <vt:lpstr>High Level Architecture</vt:lpstr>
      <vt:lpstr>Testimonial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Maheshwari, Sundeep Kumar</cp:lastModifiedBy>
  <cp:revision>38</cp:revision>
  <dcterms:created xsi:type="dcterms:W3CDTF">2013-01-27T09:14:16Z</dcterms:created>
  <dcterms:modified xsi:type="dcterms:W3CDTF">2026-04-21T21:28:34Z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  <property fmtid="{D5CDD505-2E9C-101B-9397-08002B2CF9AE}" pid="3" name="MediaServiceImageTags">
    <vt:lpwstr/>
  </property>
</Properties>
</file>